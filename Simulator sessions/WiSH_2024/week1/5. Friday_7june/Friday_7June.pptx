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8" r:id="rId3"/>
    <p:sldId id="269" r:id="rId4"/>
    <p:sldId id="271" r:id="rId5"/>
    <p:sldId id="272" r:id="rId6"/>
    <p:sldId id="273" r:id="rId7"/>
    <p:sldId id="257" r:id="rId8"/>
    <p:sldId id="261" r:id="rId9"/>
    <p:sldId id="25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779988-C33A-45D8-81D6-5F3C18516332}" type="datetimeFigureOut">
              <a:rPr lang="en-US" smtClean="0"/>
              <a:t>6/7/2024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29B8C3-5750-4B0B-952D-5E2DC3010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263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C3427-432F-4650-A882-E577BBBFE3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4E6FAB-F605-4408-A90B-34EBA70170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E23AC7-860D-42B3-B7F1-55AC342A3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01E0B-D136-4D04-8D92-941FA6EC0496}" type="datetimeFigureOut">
              <a:rPr lang="en-US" smtClean="0"/>
              <a:t>6/7/2024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E6E70-A444-411F-8F0B-1BBBE7BA4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1E794-F6F7-4400-B881-669EF27EB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3FFB7-2FA1-43E3-BCB4-70F7DBFD95E8}" type="slidenum">
              <a:rPr lang="en-US" smtClean="0"/>
              <a:t>‹#›</a:t>
            </a:fld>
            <a:endParaRPr lang="en-US"/>
          </a:p>
        </p:txBody>
      </p:sp>
      <p:pic>
        <p:nvPicPr>
          <p:cNvPr id="1028" name="Picture 4" descr="Texas Instruments | Electronic Design">
            <a:extLst>
              <a:ext uri="{FF2B5EF4-FFF2-40B4-BE49-F238E27FC236}">
                <a16:creationId xmlns:a16="http://schemas.microsoft.com/office/drawing/2014/main" id="{154A5028-F548-4B1F-B348-BF010181218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66" b="26405"/>
          <a:stretch/>
        </p:blipFill>
        <p:spPr bwMode="auto">
          <a:xfrm>
            <a:off x="10074965" y="6191451"/>
            <a:ext cx="1951383" cy="530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9560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71DF9-1A1C-4A4C-8F24-877050C7B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A9508-609C-4291-A886-51F0769D5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B77CD-3EE3-48C7-A8F8-210F697C4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01E0B-D136-4D04-8D92-941FA6EC0496}" type="datetimeFigureOut">
              <a:rPr lang="en-US" smtClean="0"/>
              <a:t>6/7/2024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78E3F-1378-43D4-9858-0D2040F42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B8401-9354-4582-BF8B-8251B021D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3FFB7-2FA1-43E3-BCB4-70F7DBFD9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400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93C93-8924-4F9E-BC6B-7E2B4E787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A7C0FD-2679-45BB-97CD-8C5E1F1B99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283EEC-2F73-4214-868B-C174A4D79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01E0B-D136-4D04-8D92-941FA6EC0496}" type="datetimeFigureOut">
              <a:rPr lang="en-US" smtClean="0"/>
              <a:t>6/7/2024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0AECCA-2D7A-424A-BA20-D991CFF3D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E6D78B-138A-46D9-AA5C-E7B7F9DF4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3FFB7-2FA1-43E3-BCB4-70F7DBFD9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607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6C7F0-A5FD-4783-9471-4B34DA2ED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67878-A270-4279-A0FD-2894EE0715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109080-7D4B-41AC-902C-319C0CE65A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6C0744-719C-4DEA-8F91-3A95B7F1B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01E0B-D136-4D04-8D92-941FA6EC0496}" type="datetimeFigureOut">
              <a:rPr lang="en-US" smtClean="0"/>
              <a:t>6/7/2024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F886D9-E4E6-4B28-B5D2-88FC6B1D2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5A2836-57F9-4F3F-880B-ADC85760F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3FFB7-2FA1-43E3-BCB4-70F7DBFD9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378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744E3-6EDD-482D-8399-7188DACBC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300277-1DA9-43BA-8A54-5058A95F63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B2BC2F-73B8-4463-9F45-D6BD8B27E2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01E77B-9326-4B29-9107-095E2D810A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B427A6-2330-4545-BDF3-8DF48A3002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3DD895-2712-4911-8096-F93F1F5E3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01E0B-D136-4D04-8D92-941FA6EC0496}" type="datetimeFigureOut">
              <a:rPr lang="en-US" smtClean="0"/>
              <a:t>6/7/2024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998D30-A354-4F9A-96B4-63C5DFAD8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1B02B2-7B97-4275-9439-B873ECE42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3FFB7-2FA1-43E3-BCB4-70F7DBFD9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675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BD252-EEA8-4B71-B4C4-FA89485BD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DCB978-21CB-456D-991D-083B4D8A3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01E0B-D136-4D04-8D92-941FA6EC0496}" type="datetimeFigureOut">
              <a:rPr lang="en-US" smtClean="0"/>
              <a:t>6/7/2024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C70E4A-3EE6-4673-B4C0-1F6356ABC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4489F9-44CB-4630-90E2-3F14EAE3C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3FFB7-2FA1-43E3-BCB4-70F7DBFD9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548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680709-75D5-418C-984D-B787F399A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01E0B-D136-4D04-8D92-941FA6EC0496}" type="datetimeFigureOut">
              <a:rPr lang="en-US" smtClean="0"/>
              <a:t>6/7/2024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434E4C-A427-43C9-8E67-DD9FED315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9C87E8-3524-4250-BC12-627E84806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3FFB7-2FA1-43E3-BCB4-70F7DBFD95E8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 descr="Texas Instruments | Electronic Design">
            <a:extLst>
              <a:ext uri="{FF2B5EF4-FFF2-40B4-BE49-F238E27FC236}">
                <a16:creationId xmlns:a16="http://schemas.microsoft.com/office/drawing/2014/main" id="{CA7BEA51-7A45-47B5-ADD2-8C184AFC3B0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66" b="26405"/>
          <a:stretch/>
        </p:blipFill>
        <p:spPr bwMode="auto">
          <a:xfrm>
            <a:off x="9982200" y="6191451"/>
            <a:ext cx="1951383" cy="530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7083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34143-E082-46F0-8CB7-18C0F4A55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FCDEB-8452-4E8A-8182-B5E859616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D69A5E-2A2C-42A0-BF4F-E24076520E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831A3D-D5F5-4509-8255-297591E7D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01E0B-D136-4D04-8D92-941FA6EC0496}" type="datetimeFigureOut">
              <a:rPr lang="en-US" smtClean="0"/>
              <a:t>6/7/2024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7972F1-13A4-4868-B416-2FF265CCA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18213-11EC-45B0-9400-91379BD0F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3FFB7-2FA1-43E3-BCB4-70F7DBFD9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380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192CD-A756-4BA6-A5FF-10A96526B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34B634-FB59-471F-99D2-6443F78A55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46B381-C1E6-4005-AB7F-07FAFA16EE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5012F0-01E4-46CC-9F2B-550AF0EE5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01E0B-D136-4D04-8D92-941FA6EC0496}" type="datetimeFigureOut">
              <a:rPr lang="en-US" smtClean="0"/>
              <a:t>6/7/2024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A14A87-21B9-4451-8FC5-CA51AA4ED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231858-2DCB-4CF5-8D70-4F1389F54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3FFB7-2FA1-43E3-BCB4-70F7DBFD9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234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5A275-2250-4AC3-A4FA-5FA93E1DA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E96B0D-3D45-47D3-A880-F39A35E851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677598-9DE2-4B71-8AFE-EF6038A2B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01E0B-D136-4D04-8D92-941FA6EC0496}" type="datetimeFigureOut">
              <a:rPr lang="en-US" smtClean="0"/>
              <a:t>6/7/2024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0C96AF-761A-489D-8FDB-62E102E7D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501410-5742-4295-B691-A9031A460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3FFB7-2FA1-43E3-BCB4-70F7DBFD9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259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F076D2-A02F-4A9D-BC6C-A05071B9B3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BC433D-78F3-456F-A446-E256ECFA0B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4AE1D-0BDC-4C9A-A805-6C5552968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01E0B-D136-4D04-8D92-941FA6EC0496}" type="datetimeFigureOut">
              <a:rPr lang="en-US" smtClean="0"/>
              <a:t>6/7/2024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8E0292-83EA-411E-8D47-0B7717872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9DF89-54CA-46AE-B3C5-BB18D3DF0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3FFB7-2FA1-43E3-BCB4-70F7DBFD9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867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FEA409-944F-4BCC-B25D-6E7AB4E43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DF91BD-9189-4045-9460-9CE53CCF14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FD08C7-CD4B-44E6-928D-BA54C817CD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A01E0B-D136-4D04-8D92-941FA6EC0496}" type="datetimeFigureOut">
              <a:rPr lang="en-US" smtClean="0"/>
              <a:t>6/7/2024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BFB55B-79D0-4FDE-A69D-D03E36323D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3DFD5-300C-4303-AC2E-FF24D3B84F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E3FFB7-2FA1-43E3-BCB4-70F7DBFD9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80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75760-9EF8-47C0-9934-25C8CE4F2C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8750" y="1462773"/>
            <a:ext cx="9144000" cy="2387600"/>
          </a:xfrm>
        </p:spPr>
        <p:txBody>
          <a:bodyPr>
            <a:normAutofit/>
          </a:bodyPr>
          <a:lstStyle/>
          <a:p>
            <a:r>
              <a:rPr lang="en-US" sz="5400" dirty="0"/>
              <a:t>Day 5</a:t>
            </a:r>
            <a:br>
              <a:rPr lang="en-US" sz="5400" dirty="0"/>
            </a:br>
            <a:r>
              <a:rPr lang="en-US" sz="5400" dirty="0"/>
              <a:t>7 June, 2024</a:t>
            </a:r>
          </a:p>
        </p:txBody>
      </p:sp>
    </p:spTree>
    <p:extLst>
      <p:ext uri="{BB962C8B-B14F-4D97-AF65-F5344CB8AC3E}">
        <p14:creationId xmlns:p14="http://schemas.microsoft.com/office/powerpoint/2010/main" val="3473622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8423D0-6AC0-4C23-A758-BE040AFE58AA}"/>
              </a:ext>
            </a:extLst>
          </p:cNvPr>
          <p:cNvSpPr txBox="1"/>
          <p:nvPr/>
        </p:nvSpPr>
        <p:spPr>
          <a:xfrm>
            <a:off x="228600" y="209550"/>
            <a:ext cx="7962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Question: Understanding first order RC low pass filter.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FE75E0-AE19-4162-9DB7-C7EA3B3E6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803195"/>
            <a:ext cx="7602982" cy="34259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37191EA-99D7-46F6-B261-8C102A363D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3374" y="803195"/>
            <a:ext cx="3746211" cy="3149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29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C2BC78-602E-4E7E-A6D1-7EBA7AE2F862}"/>
              </a:ext>
            </a:extLst>
          </p:cNvPr>
          <p:cNvSpPr txBox="1"/>
          <p:nvPr/>
        </p:nvSpPr>
        <p:spPr>
          <a:xfrm>
            <a:off x="123824" y="219075"/>
            <a:ext cx="20669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QUCS result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1F91AA-110E-4E55-88C4-DE00B5F9F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769" y="1012723"/>
            <a:ext cx="6974051" cy="541665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E505356-9B51-4534-80ED-3B90FAEDEF9F}"/>
              </a:ext>
            </a:extLst>
          </p:cNvPr>
          <p:cNvSpPr txBox="1"/>
          <p:nvPr/>
        </p:nvSpPr>
        <p:spPr>
          <a:xfrm>
            <a:off x="7534275" y="1390650"/>
            <a:ext cx="3743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Cutoff frequency = 159 Hz here.</a:t>
            </a:r>
          </a:p>
        </p:txBody>
      </p:sp>
    </p:spTree>
    <p:extLst>
      <p:ext uri="{BB962C8B-B14F-4D97-AF65-F5344CB8AC3E}">
        <p14:creationId xmlns:p14="http://schemas.microsoft.com/office/powerpoint/2010/main" val="1883122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16E28DC-ACF1-4D7D-8865-CC3303CBA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344" y="285694"/>
            <a:ext cx="3762232" cy="260990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FEB6369-CCA8-4F99-B15D-ACF28F08C1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1299" y="349309"/>
            <a:ext cx="3387801" cy="25462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F1658B6-6BA0-401B-86AE-FC309BCEE8EE}"/>
              </a:ext>
            </a:extLst>
          </p:cNvPr>
          <p:cNvSpPr txBox="1"/>
          <p:nvPr/>
        </p:nvSpPr>
        <p:spPr>
          <a:xfrm>
            <a:off x="8187797" y="866775"/>
            <a:ext cx="2996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DC Component fully passed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B3A990-BD90-44AD-A0B5-6E83721AA6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24" y="3429000"/>
            <a:ext cx="5810549" cy="21972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465979-A518-4C28-B4BC-BA2A4309E6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497" y="3429000"/>
            <a:ext cx="3786079" cy="25050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3EFECB6-A693-4631-AA62-8BE11F11B34E}"/>
              </a:ext>
            </a:extLst>
          </p:cNvPr>
          <p:cNvSpPr txBox="1"/>
          <p:nvPr/>
        </p:nvSpPr>
        <p:spPr>
          <a:xfrm>
            <a:off x="10198933" y="3894266"/>
            <a:ext cx="1971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f = 1Hz smoothly passed</a:t>
            </a:r>
          </a:p>
        </p:txBody>
      </p:sp>
    </p:spTree>
    <p:extLst>
      <p:ext uri="{BB962C8B-B14F-4D97-AF65-F5344CB8AC3E}">
        <p14:creationId xmlns:p14="http://schemas.microsoft.com/office/powerpoint/2010/main" val="91270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CC6869-9FFA-4DEE-A796-81C6BF3C8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155" y="346007"/>
            <a:ext cx="3877607" cy="280049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3B9E42B-388E-4220-A7BA-01BB495463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954" y="346007"/>
            <a:ext cx="4692891" cy="280049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A9510A5-DEFD-4E45-8D78-E9DDC21AC180}"/>
              </a:ext>
            </a:extLst>
          </p:cNvPr>
          <p:cNvSpPr txBox="1"/>
          <p:nvPr/>
        </p:nvSpPr>
        <p:spPr>
          <a:xfrm>
            <a:off x="9116072" y="895350"/>
            <a:ext cx="28163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 = 800 Hz is rejected well  by the filter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BB2557-1AB4-42D3-AB2C-863B85DDBB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541" y="3282864"/>
            <a:ext cx="4343510" cy="33804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53F2509-5F71-49BF-AFA3-35066C178A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8155" y="3254320"/>
            <a:ext cx="3519211" cy="34089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12FD164-E2B2-44FA-BDA7-8694EED2D7C4}"/>
              </a:ext>
            </a:extLst>
          </p:cNvPr>
          <p:cNvSpPr txBox="1"/>
          <p:nvPr/>
        </p:nvSpPr>
        <p:spPr>
          <a:xfrm>
            <a:off x="8623230" y="4049754"/>
            <a:ext cx="33624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 = 10 Hz is passed, and f = 800 Hz comes as a small ripple on the output</a:t>
            </a:r>
          </a:p>
        </p:txBody>
      </p:sp>
    </p:spTree>
    <p:extLst>
      <p:ext uri="{BB962C8B-B14F-4D97-AF65-F5344CB8AC3E}">
        <p14:creationId xmlns:p14="http://schemas.microsoft.com/office/powerpoint/2010/main" val="891278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A5E11E5-DBEF-49B5-BB23-5B9B1C3FE6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46" y="214262"/>
            <a:ext cx="4680054" cy="460623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3220337-07E0-410F-A6E7-1006617C6C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271" y="214262"/>
            <a:ext cx="6486841" cy="46062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FCAE1CD-A969-4A76-A64A-E4AA5319362F}"/>
              </a:ext>
            </a:extLst>
          </p:cNvPr>
          <p:cNvSpPr txBox="1"/>
          <p:nvPr/>
        </p:nvSpPr>
        <p:spPr>
          <a:xfrm>
            <a:off x="285750" y="5010150"/>
            <a:ext cx="63817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 given is sum of sinusoidals of fundamental frequency = 10 Hz, and its odd harmonics.</a:t>
            </a:r>
          </a:p>
          <a:p>
            <a:r>
              <a:rPr lang="en-US" dirty="0"/>
              <a:t>We can alter the cutoff frequency of the low pass filter and check how the filter rejects frequency components much greater than its cutoff frequency. </a:t>
            </a:r>
          </a:p>
        </p:txBody>
      </p:sp>
    </p:spTree>
    <p:extLst>
      <p:ext uri="{BB962C8B-B14F-4D97-AF65-F5344CB8AC3E}">
        <p14:creationId xmlns:p14="http://schemas.microsoft.com/office/powerpoint/2010/main" val="1385432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8423D0-6AC0-4C23-A758-BE040AFE58AA}"/>
              </a:ext>
            </a:extLst>
          </p:cNvPr>
          <p:cNvSpPr txBox="1"/>
          <p:nvPr/>
        </p:nvSpPr>
        <p:spPr>
          <a:xfrm>
            <a:off x="228600" y="209550"/>
            <a:ext cx="2705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Question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5456541-5928-4134-A498-21A6587A0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855087"/>
            <a:ext cx="8044359" cy="4241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308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C2BC78-602E-4E7E-A6D1-7EBA7AE2F862}"/>
              </a:ext>
            </a:extLst>
          </p:cNvPr>
          <p:cNvSpPr txBox="1"/>
          <p:nvPr/>
        </p:nvSpPr>
        <p:spPr>
          <a:xfrm>
            <a:off x="123824" y="219075"/>
            <a:ext cx="20669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QUCS circuit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7AFEA6-D819-4EB3-9EA8-9F8D228F5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54" y="1097446"/>
            <a:ext cx="6718048" cy="40334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0CD7D63-4633-4885-8B98-FB2E1F2C1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9781" y="809523"/>
            <a:ext cx="4503354" cy="23046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AEF7A8-D170-40B1-81E4-2975A04843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9781" y="3246921"/>
            <a:ext cx="3183861" cy="27220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6844ED7-2A42-47FE-A34F-CA9FF171D02E}"/>
              </a:ext>
            </a:extLst>
          </p:cNvPr>
          <p:cNvSpPr txBox="1"/>
          <p:nvPr/>
        </p:nvSpPr>
        <p:spPr>
          <a:xfrm>
            <a:off x="225254" y="5298889"/>
            <a:ext cx="64600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Now, change the current value to </a:t>
            </a:r>
            <a:r>
              <a:rPr lang="en-US" dirty="0">
                <a:solidFill>
                  <a:srgbClr val="C00000"/>
                </a:solidFill>
              </a:rPr>
              <a:t>Is = 2.u(t), </a:t>
            </a:r>
            <a:r>
              <a:rPr lang="en-US" dirty="0"/>
              <a:t>what do you expect?</a:t>
            </a:r>
          </a:p>
          <a:p>
            <a:r>
              <a:rPr lang="en-US" dirty="0"/>
              <a:t>How about Is </a:t>
            </a:r>
            <a:r>
              <a:rPr lang="en-US" dirty="0">
                <a:solidFill>
                  <a:srgbClr val="C00000"/>
                </a:solidFill>
              </a:rPr>
              <a:t>= </a:t>
            </a:r>
            <a:r>
              <a:rPr lang="el-GR" dirty="0">
                <a:solidFill>
                  <a:srgbClr val="C00000"/>
                </a:solidFill>
              </a:rPr>
              <a:t>α</a:t>
            </a:r>
            <a:r>
              <a:rPr lang="en-US" dirty="0">
                <a:solidFill>
                  <a:srgbClr val="C00000"/>
                </a:solidFill>
              </a:rPr>
              <a:t>. u(t)</a:t>
            </a:r>
            <a:r>
              <a:rPr lang="en-US" dirty="0"/>
              <a:t> 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6219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E293DB-949A-4EA8-B40A-9EA12335C320}"/>
              </a:ext>
            </a:extLst>
          </p:cNvPr>
          <p:cNvSpPr txBox="1"/>
          <p:nvPr/>
        </p:nvSpPr>
        <p:spPr>
          <a:xfrm>
            <a:off x="180975" y="285750"/>
            <a:ext cx="22193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QUCS result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3CB06F-C16F-4260-8D03-536C18AE367E}"/>
              </a:ext>
            </a:extLst>
          </p:cNvPr>
          <p:cNvSpPr txBox="1"/>
          <p:nvPr/>
        </p:nvSpPr>
        <p:spPr>
          <a:xfrm>
            <a:off x="180975" y="3128787"/>
            <a:ext cx="75533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Conclusion:</a:t>
            </a:r>
          </a:p>
          <a:p>
            <a:endParaRPr lang="en-US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88AAEC-A980-46C0-8878-6A7652E9A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808" y="747415"/>
            <a:ext cx="3413125" cy="22937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9A85166-9EBE-4C3D-9234-99659830758C}"/>
              </a:ext>
            </a:extLst>
          </p:cNvPr>
          <p:cNvSpPr txBox="1"/>
          <p:nvPr/>
        </p:nvSpPr>
        <p:spPr>
          <a:xfrm>
            <a:off x="180975" y="3766556"/>
            <a:ext cx="825182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It can be seen that the impedance looking right of the current source is always twice of the impedance seen towards the left.</a:t>
            </a:r>
          </a:p>
          <a:p>
            <a:pPr marL="285750" indent="-285750">
              <a:buFontTx/>
              <a:buChar char="-"/>
            </a:pPr>
            <a:r>
              <a:rPr lang="en-US" dirty="0"/>
              <a:t>Hence, the current Is will always divide in the same proportion, that is one third of it goes in the right branch, and two thirds in the left branch.</a:t>
            </a:r>
          </a:p>
          <a:p>
            <a:pPr marL="285750" indent="-285750">
              <a:buFontTx/>
              <a:buChar char="-"/>
            </a:pPr>
            <a:r>
              <a:rPr lang="en-US" dirty="0"/>
              <a:t>A step current being pumped in the cap, the voltage rises like a ramp, and it is given by : Vcap2(t) =(Is/3* t )/0.5C . At t=2s, Vcap2 comes out to be 1.33V</a:t>
            </a:r>
          </a:p>
          <a:p>
            <a:pPr marL="285750" indent="-285750">
              <a:buFontTx/>
              <a:buChar char="-"/>
            </a:pPr>
            <a:r>
              <a:rPr lang="en-US" dirty="0"/>
              <a:t>When Is = </a:t>
            </a:r>
            <a:r>
              <a:rPr lang="el-GR" dirty="0"/>
              <a:t>α</a:t>
            </a:r>
            <a:r>
              <a:rPr lang="en-US" dirty="0"/>
              <a:t>. u(t) , Vcap2(t) =(</a:t>
            </a:r>
            <a:r>
              <a:rPr lang="el-GR" dirty="0"/>
              <a:t>α</a:t>
            </a:r>
            <a:r>
              <a:rPr lang="en-US" dirty="0"/>
              <a:t>.Is/3* t )/0.5C</a:t>
            </a:r>
          </a:p>
        </p:txBody>
      </p:sp>
    </p:spTree>
    <p:extLst>
      <p:ext uri="{BB962C8B-B14F-4D97-AF65-F5344CB8AC3E}">
        <p14:creationId xmlns:p14="http://schemas.microsoft.com/office/powerpoint/2010/main" val="1113816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993</TotalTime>
  <Words>275</Words>
  <Application>Microsoft Office PowerPoint</Application>
  <PresentationFormat>Widescreen</PresentationFormat>
  <Paragraphs>20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Day 5 7 June, 2024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Srivastava, Jaya</dc:creator>
  <cp:lastModifiedBy>Srivastava, Jaya</cp:lastModifiedBy>
  <cp:revision>56</cp:revision>
  <dcterms:created xsi:type="dcterms:W3CDTF">2024-05-27T03:37:31Z</dcterms:created>
  <dcterms:modified xsi:type="dcterms:W3CDTF">2024-06-07T06:41:50Z</dcterms:modified>
</cp:coreProperties>
</file>