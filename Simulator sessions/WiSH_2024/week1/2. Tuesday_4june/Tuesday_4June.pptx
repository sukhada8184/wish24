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779988-C33A-45D8-81D6-5F3C18516332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29B8C3-5750-4B0B-952D-5E2DC3010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263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C3427-432F-4650-A882-E577BBBFE3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4E6FAB-F605-4408-A90B-34EBA70170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E23AC7-860D-42B3-B7F1-55AC342A3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01E0B-D136-4D04-8D92-941FA6EC0496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E6E70-A444-411F-8F0B-1BBBE7BA4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1E794-F6F7-4400-B881-669EF27EB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3FFB7-2FA1-43E3-BCB4-70F7DBFD95E8}" type="slidenum">
              <a:rPr lang="en-US" smtClean="0"/>
              <a:t>‹#›</a:t>
            </a:fld>
            <a:endParaRPr lang="en-US"/>
          </a:p>
        </p:txBody>
      </p:sp>
      <p:pic>
        <p:nvPicPr>
          <p:cNvPr id="1028" name="Picture 4" descr="Texas Instruments | Electronic Design">
            <a:extLst>
              <a:ext uri="{FF2B5EF4-FFF2-40B4-BE49-F238E27FC236}">
                <a16:creationId xmlns:a16="http://schemas.microsoft.com/office/drawing/2014/main" id="{154A5028-F548-4B1F-B348-BF010181218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66" b="26405"/>
          <a:stretch/>
        </p:blipFill>
        <p:spPr bwMode="auto">
          <a:xfrm>
            <a:off x="10074965" y="6191451"/>
            <a:ext cx="1951383" cy="530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9560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71DF9-1A1C-4A4C-8F24-877050C7B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A9508-609C-4291-A886-51F0769D5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B77CD-3EE3-48C7-A8F8-210F697C4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01E0B-D136-4D04-8D92-941FA6EC0496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78E3F-1378-43D4-9858-0D2040F42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B8401-9354-4582-BF8B-8251B021D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3FFB7-2FA1-43E3-BCB4-70F7DBFD9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400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93C93-8924-4F9E-BC6B-7E2B4E787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A7C0FD-2679-45BB-97CD-8C5E1F1B99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283EEC-2F73-4214-868B-C174A4D79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01E0B-D136-4D04-8D92-941FA6EC0496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0AECCA-2D7A-424A-BA20-D991CFF3D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E6D78B-138A-46D9-AA5C-E7B7F9DF4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3FFB7-2FA1-43E3-BCB4-70F7DBFD9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607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6C7F0-A5FD-4783-9471-4B34DA2ED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67878-A270-4279-A0FD-2894EE0715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109080-7D4B-41AC-902C-319C0CE65A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6C0744-719C-4DEA-8F91-3A95B7F1B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01E0B-D136-4D04-8D92-941FA6EC0496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F886D9-E4E6-4B28-B5D2-88FC6B1D2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5A2836-57F9-4F3F-880B-ADC85760F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3FFB7-2FA1-43E3-BCB4-70F7DBFD9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378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744E3-6EDD-482D-8399-7188DACBC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300277-1DA9-43BA-8A54-5058A95F63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B2BC2F-73B8-4463-9F45-D6BD8B27E2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01E77B-9326-4B29-9107-095E2D810A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B427A6-2330-4545-BDF3-8DF48A3002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3DD895-2712-4911-8096-F93F1F5E3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01E0B-D136-4D04-8D92-941FA6EC0496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998D30-A354-4F9A-96B4-63C5DFAD8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1B02B2-7B97-4275-9439-B873ECE42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3FFB7-2FA1-43E3-BCB4-70F7DBFD9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675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BD252-EEA8-4B71-B4C4-FA89485BD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DCB978-21CB-456D-991D-083B4D8A3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01E0B-D136-4D04-8D92-941FA6EC0496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C70E4A-3EE6-4673-B4C0-1F6356ABC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4489F9-44CB-4630-90E2-3F14EAE3C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3FFB7-2FA1-43E3-BCB4-70F7DBFD9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548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680709-75D5-418C-984D-B787F399A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01E0B-D136-4D04-8D92-941FA6EC0496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434E4C-A427-43C9-8E67-DD9FED315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9C87E8-3524-4250-BC12-627E84806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3FFB7-2FA1-43E3-BCB4-70F7DBFD95E8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 descr="Texas Instruments | Electronic Design">
            <a:extLst>
              <a:ext uri="{FF2B5EF4-FFF2-40B4-BE49-F238E27FC236}">
                <a16:creationId xmlns:a16="http://schemas.microsoft.com/office/drawing/2014/main" id="{CA7BEA51-7A45-47B5-ADD2-8C184AFC3B0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66" b="26405"/>
          <a:stretch/>
        </p:blipFill>
        <p:spPr bwMode="auto">
          <a:xfrm>
            <a:off x="9982200" y="6191451"/>
            <a:ext cx="1951383" cy="530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7083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34143-E082-46F0-8CB7-18C0F4A55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FCDEB-8452-4E8A-8182-B5E859616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D69A5E-2A2C-42A0-BF4F-E24076520E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831A3D-D5F5-4509-8255-297591E7D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01E0B-D136-4D04-8D92-941FA6EC0496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7972F1-13A4-4868-B416-2FF265CCA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18213-11EC-45B0-9400-91379BD0F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3FFB7-2FA1-43E3-BCB4-70F7DBFD9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380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192CD-A756-4BA6-A5FF-10A96526B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34B634-FB59-471F-99D2-6443F78A55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46B381-C1E6-4005-AB7F-07FAFA16EE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5012F0-01E4-46CC-9F2B-550AF0EE5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01E0B-D136-4D04-8D92-941FA6EC0496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A14A87-21B9-4451-8FC5-CA51AA4ED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231858-2DCB-4CF5-8D70-4F1389F54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3FFB7-2FA1-43E3-BCB4-70F7DBFD9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234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5A275-2250-4AC3-A4FA-5FA93E1DA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E96B0D-3D45-47D3-A880-F39A35E851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677598-9DE2-4B71-8AFE-EF6038A2B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01E0B-D136-4D04-8D92-941FA6EC0496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0C96AF-761A-489D-8FDB-62E102E7D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501410-5742-4295-B691-A9031A460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3FFB7-2FA1-43E3-BCB4-70F7DBFD9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259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F076D2-A02F-4A9D-BC6C-A05071B9B3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BC433D-78F3-456F-A446-E256ECFA0B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4AE1D-0BDC-4C9A-A805-6C5552968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01E0B-D136-4D04-8D92-941FA6EC0496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8E0292-83EA-411E-8D47-0B7717872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9DF89-54CA-46AE-B3C5-BB18D3DF0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3FFB7-2FA1-43E3-BCB4-70F7DBFD9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867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FEA409-944F-4BCC-B25D-6E7AB4E43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DF91BD-9189-4045-9460-9CE53CCF14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FD08C7-CD4B-44E6-928D-BA54C817CD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A01E0B-D136-4D04-8D92-941FA6EC0496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BFB55B-79D0-4FDE-A69D-D03E36323D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3DFD5-300C-4303-AC2E-FF24D3B84F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E3FFB7-2FA1-43E3-BCB4-70F7DBFD9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80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75760-9EF8-47C0-9934-25C8CE4F2C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8750" y="1462773"/>
            <a:ext cx="9144000" cy="2387600"/>
          </a:xfrm>
        </p:spPr>
        <p:txBody>
          <a:bodyPr>
            <a:normAutofit/>
          </a:bodyPr>
          <a:lstStyle/>
          <a:p>
            <a:r>
              <a:rPr lang="en-US" sz="5400" dirty="0"/>
              <a:t>Day 2</a:t>
            </a:r>
            <a:br>
              <a:rPr lang="en-US" sz="5400" dirty="0"/>
            </a:br>
            <a:r>
              <a:rPr lang="en-US" sz="5400" dirty="0"/>
              <a:t>4 June, 2024</a:t>
            </a:r>
          </a:p>
        </p:txBody>
      </p:sp>
    </p:spTree>
    <p:extLst>
      <p:ext uri="{BB962C8B-B14F-4D97-AF65-F5344CB8AC3E}">
        <p14:creationId xmlns:p14="http://schemas.microsoft.com/office/powerpoint/2010/main" val="3473622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8423D0-6AC0-4C23-A758-BE040AFE58AA}"/>
              </a:ext>
            </a:extLst>
          </p:cNvPr>
          <p:cNvSpPr txBox="1"/>
          <p:nvPr/>
        </p:nvSpPr>
        <p:spPr>
          <a:xfrm>
            <a:off x="228600" y="209550"/>
            <a:ext cx="2705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Question 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39B278-CB74-4195-8239-4D6F966E6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5" y="860378"/>
            <a:ext cx="8931726" cy="4864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308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F2C7A25-4D5C-498E-8008-7ADB2EF15276}"/>
              </a:ext>
            </a:extLst>
          </p:cNvPr>
          <p:cNvSpPr txBox="1"/>
          <p:nvPr/>
        </p:nvSpPr>
        <p:spPr>
          <a:xfrm>
            <a:off x="180975" y="186809"/>
            <a:ext cx="2095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QUCS circuit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404446-B4BE-41EA-975C-4E9CB7D842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867" y="1330238"/>
            <a:ext cx="9001067" cy="427046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85BEEB2-534B-40BC-B2E3-D9D5CA7D5291}"/>
              </a:ext>
            </a:extLst>
          </p:cNvPr>
          <p:cNvSpPr txBox="1"/>
          <p:nvPr/>
        </p:nvSpPr>
        <p:spPr>
          <a:xfrm>
            <a:off x="9725025" y="838200"/>
            <a:ext cx="18192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Vx used to label the node,</a:t>
            </a:r>
          </a:p>
          <a:p>
            <a:r>
              <a:rPr lang="en-US" dirty="0"/>
              <a:t>- Current probe (Pr2) to check current in that branch.</a:t>
            </a:r>
          </a:p>
        </p:txBody>
      </p:sp>
    </p:spTree>
    <p:extLst>
      <p:ext uri="{BB962C8B-B14F-4D97-AF65-F5344CB8AC3E}">
        <p14:creationId xmlns:p14="http://schemas.microsoft.com/office/powerpoint/2010/main" val="998983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E293DB-949A-4EA8-B40A-9EA12335C320}"/>
              </a:ext>
            </a:extLst>
          </p:cNvPr>
          <p:cNvSpPr txBox="1"/>
          <p:nvPr/>
        </p:nvSpPr>
        <p:spPr>
          <a:xfrm>
            <a:off x="180975" y="285750"/>
            <a:ext cx="22193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QUCS result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7691B5-6FBE-4F0E-AE0D-0CBF9F994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" y="949281"/>
            <a:ext cx="2546481" cy="17209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C3CB06F-C16F-4260-8D03-536C18AE367E}"/>
              </a:ext>
            </a:extLst>
          </p:cNvPr>
          <p:cNvSpPr txBox="1"/>
          <p:nvPr/>
        </p:nvSpPr>
        <p:spPr>
          <a:xfrm>
            <a:off x="219075" y="3078370"/>
            <a:ext cx="906039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Conclusion:</a:t>
            </a:r>
          </a:p>
          <a:p>
            <a:endParaRPr lang="en-US" sz="2400" b="1" dirty="0"/>
          </a:p>
          <a:p>
            <a:pPr marL="285750" indent="-285750">
              <a:buFontTx/>
              <a:buChar char="-"/>
            </a:pPr>
            <a:r>
              <a:rPr lang="en-US" dirty="0"/>
              <a:t>In a series circuit, the current that flows through each of the components is the same.</a:t>
            </a:r>
          </a:p>
          <a:p>
            <a:pPr marL="285750" indent="-285750">
              <a:buFontTx/>
              <a:buChar char="-"/>
            </a:pPr>
            <a:r>
              <a:rPr lang="en-US" dirty="0"/>
              <a:t>A voltage source and current source in series is equivalent to a current source in series.</a:t>
            </a:r>
          </a:p>
        </p:txBody>
      </p:sp>
    </p:spTree>
    <p:extLst>
      <p:ext uri="{BB962C8B-B14F-4D97-AF65-F5344CB8AC3E}">
        <p14:creationId xmlns:p14="http://schemas.microsoft.com/office/powerpoint/2010/main" val="1113816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26589C-7A01-4548-980A-BDD33528CFA6}"/>
              </a:ext>
            </a:extLst>
          </p:cNvPr>
          <p:cNvSpPr txBox="1"/>
          <p:nvPr/>
        </p:nvSpPr>
        <p:spPr>
          <a:xfrm>
            <a:off x="180975" y="276224"/>
            <a:ext cx="3009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Question 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5127BB-69A4-4D01-895E-9A170C7B5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" y="876171"/>
            <a:ext cx="6210472" cy="46578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6A5023B-BB9C-4504-837D-2733AE641A6A}"/>
              </a:ext>
            </a:extLst>
          </p:cNvPr>
          <p:cNvSpPr txBox="1"/>
          <p:nvPr/>
        </p:nvSpPr>
        <p:spPr>
          <a:xfrm>
            <a:off x="7548563" y="276224"/>
            <a:ext cx="3890961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Hint:</a:t>
            </a:r>
          </a:p>
          <a:p>
            <a:endParaRPr lang="en-US" sz="2400" b="1" dirty="0"/>
          </a:p>
          <a:p>
            <a:pPr marL="285750" indent="-285750">
              <a:buFontTx/>
              <a:buChar char="-"/>
            </a:pPr>
            <a:r>
              <a:rPr lang="en-US" dirty="0"/>
              <a:t>Use pulse current to generate the current waveform.</a:t>
            </a:r>
          </a:p>
          <a:p>
            <a:pPr marL="285750" indent="-285750">
              <a:buFontTx/>
              <a:buChar char="-"/>
            </a:pPr>
            <a:r>
              <a:rPr lang="en-US" dirty="0"/>
              <a:t>You can set initial voltage on cap by double clicking it.</a:t>
            </a:r>
          </a:p>
          <a:p>
            <a:pPr marL="285750" indent="-285750">
              <a:buFontTx/>
              <a:buChar char="-"/>
            </a:pPr>
            <a:r>
              <a:rPr lang="en-US" dirty="0"/>
              <a:t>Use cartesian plot in the diagrams section.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8821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C2BC78-602E-4E7E-A6D1-7EBA7AE2F862}"/>
              </a:ext>
            </a:extLst>
          </p:cNvPr>
          <p:cNvSpPr txBox="1"/>
          <p:nvPr/>
        </p:nvSpPr>
        <p:spPr>
          <a:xfrm>
            <a:off x="123824" y="219075"/>
            <a:ext cx="20669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QUCS circuit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F047E1-E9A8-448C-AD17-228B2E095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978" y="1015922"/>
            <a:ext cx="9650264" cy="506102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FB6837E-F5C0-4127-86E8-872AB733C0D9}"/>
              </a:ext>
            </a:extLst>
          </p:cNvPr>
          <p:cNvSpPr txBox="1"/>
          <p:nvPr/>
        </p:nvSpPr>
        <p:spPr>
          <a:xfrm>
            <a:off x="10010922" y="1562100"/>
            <a:ext cx="19431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Combination of two pulse currents is used to generate the required current waveform.</a:t>
            </a:r>
          </a:p>
          <a:p>
            <a:pPr marL="285750" indent="-285750">
              <a:buFontTx/>
              <a:buChar char="-"/>
            </a:pPr>
            <a:r>
              <a:rPr lang="en-US" dirty="0"/>
              <a:t>Initial voltage of 1 V is set for the capacitor.</a:t>
            </a:r>
          </a:p>
        </p:txBody>
      </p:sp>
    </p:spTree>
    <p:extLst>
      <p:ext uri="{BB962C8B-B14F-4D97-AF65-F5344CB8AC3E}">
        <p14:creationId xmlns:p14="http://schemas.microsoft.com/office/powerpoint/2010/main" val="3523621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7571ACF-B66F-40B7-B1AE-4500CF942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52" y="871239"/>
            <a:ext cx="11342638" cy="353883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5150297-5F54-4A18-8B2B-21F612755404}"/>
              </a:ext>
            </a:extLst>
          </p:cNvPr>
          <p:cNvSpPr txBox="1"/>
          <p:nvPr/>
        </p:nvSpPr>
        <p:spPr>
          <a:xfrm>
            <a:off x="190277" y="209550"/>
            <a:ext cx="2591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QUCS Result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25E919-2CA0-432C-9E28-2CEA78687A17}"/>
              </a:ext>
            </a:extLst>
          </p:cNvPr>
          <p:cNvSpPr txBox="1"/>
          <p:nvPr/>
        </p:nvSpPr>
        <p:spPr>
          <a:xfrm>
            <a:off x="256952" y="4610098"/>
            <a:ext cx="7267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At time , t = 12 s roughly we get 0V across the cap (as per simulation)</a:t>
            </a:r>
          </a:p>
        </p:txBody>
      </p:sp>
    </p:spTree>
    <p:extLst>
      <p:ext uri="{BB962C8B-B14F-4D97-AF65-F5344CB8AC3E}">
        <p14:creationId xmlns:p14="http://schemas.microsoft.com/office/powerpoint/2010/main" val="3485095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2BF779-AD1F-4869-ADBE-A4D468324AA3}"/>
              </a:ext>
            </a:extLst>
          </p:cNvPr>
          <p:cNvSpPr txBox="1"/>
          <p:nvPr/>
        </p:nvSpPr>
        <p:spPr>
          <a:xfrm>
            <a:off x="142875" y="238125"/>
            <a:ext cx="8477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87B544-2DF8-4F9A-A042-E8ECAFDE0FF0}"/>
              </a:ext>
            </a:extLst>
          </p:cNvPr>
          <p:cNvSpPr txBox="1"/>
          <p:nvPr/>
        </p:nvSpPr>
        <p:spPr>
          <a:xfrm>
            <a:off x="276225" y="1009650"/>
            <a:ext cx="82105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Given that the capacitor has 2 C of charge stored in it, it has an initial voltage of V = Q/C = 1V.</a:t>
            </a:r>
          </a:p>
          <a:p>
            <a:pPr marL="285750" indent="-285750">
              <a:buFontTx/>
              <a:buChar char="-"/>
            </a:pPr>
            <a:r>
              <a:rPr lang="en-US" dirty="0"/>
              <a:t>The first 2 seconds, the capacitor gets charged to 2 V . [ V(t) = V(0) + I0/C * t ]</a:t>
            </a:r>
          </a:p>
          <a:p>
            <a:pPr marL="285750" indent="-285750">
              <a:buFontTx/>
              <a:buChar char="-"/>
            </a:pPr>
            <a:r>
              <a:rPr lang="en-US" dirty="0"/>
              <a:t>The next 2 seconds, the 2 V is maintained across the capacitor. </a:t>
            </a:r>
          </a:p>
          <a:p>
            <a:pPr marL="285750" indent="-285750">
              <a:buFontTx/>
              <a:buChar char="-"/>
            </a:pPr>
            <a:r>
              <a:rPr lang="en-US" dirty="0"/>
              <a:t>Then , current source of value – 0.5 A starts to discharge the capacitor. At t = 12 s, the cap voltage becomes 0V as per calculations.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9D177A-4A84-400D-AA84-6A8BFAEC92F3}"/>
              </a:ext>
            </a:extLst>
          </p:cNvPr>
          <p:cNvSpPr txBox="1"/>
          <p:nvPr/>
        </p:nvSpPr>
        <p:spPr>
          <a:xfrm>
            <a:off x="75142" y="2888734"/>
            <a:ext cx="80782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Let’s try simulating for the case if the cap was non-ideal:</a:t>
            </a:r>
          </a:p>
          <a:p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609D50-FC05-47E1-A67E-0EA86B62B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42" y="3303602"/>
            <a:ext cx="5754500" cy="26653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826A45A-EBA8-4F58-9913-C5DCC7D598DE}"/>
              </a:ext>
            </a:extLst>
          </p:cNvPr>
          <p:cNvSpPr txBox="1"/>
          <p:nvPr/>
        </p:nvSpPr>
        <p:spPr>
          <a:xfrm>
            <a:off x="75142" y="6073003"/>
            <a:ext cx="457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Note: Assume initial condition in cap to be 0 </a:t>
            </a:r>
          </a:p>
        </p:txBody>
      </p:sp>
    </p:spTree>
    <p:extLst>
      <p:ext uri="{BB962C8B-B14F-4D97-AF65-F5344CB8AC3E}">
        <p14:creationId xmlns:p14="http://schemas.microsoft.com/office/powerpoint/2010/main" val="7919116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8CB02-6B97-4B65-B8AD-AB31F150B4F0}"/>
              </a:ext>
            </a:extLst>
          </p:cNvPr>
          <p:cNvSpPr txBox="1"/>
          <p:nvPr/>
        </p:nvSpPr>
        <p:spPr>
          <a:xfrm>
            <a:off x="101600" y="186267"/>
            <a:ext cx="5240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QUCS Result for the case with non-ideal capacitor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749634-FB5F-4F38-894E-DD48EB5137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564" y="634417"/>
            <a:ext cx="3489257" cy="21347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60F272C-358C-4E20-ACF8-7DBF4A3A4090}"/>
              </a:ext>
            </a:extLst>
          </p:cNvPr>
          <p:cNvSpPr txBox="1"/>
          <p:nvPr/>
        </p:nvSpPr>
        <p:spPr>
          <a:xfrm>
            <a:off x="5813258" y="370933"/>
            <a:ext cx="5359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So, how do you explain this waveform?</a:t>
            </a:r>
          </a:p>
          <a:p>
            <a:pPr marL="285750" indent="-285750">
              <a:buFontTx/>
              <a:buChar char="-"/>
            </a:pPr>
            <a:r>
              <a:rPr lang="en-US" dirty="0"/>
              <a:t>Use the Thevenin equivalent model of the circuit.</a:t>
            </a:r>
          </a:p>
          <a:p>
            <a:pPr marL="285750" indent="-285750">
              <a:buFontTx/>
              <a:buChar char="-"/>
            </a:pPr>
            <a:r>
              <a:rPr lang="en-US" dirty="0"/>
              <a:t>Then, its RC circuit charging and discharging.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87E1C2-6B73-4313-B443-38FE70AD34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0862" y="1701799"/>
            <a:ext cx="3830275" cy="33787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CD1F6A-002E-43F5-BA40-B2C1B0096A5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229" t="1131"/>
          <a:stretch/>
        </p:blipFill>
        <p:spPr>
          <a:xfrm>
            <a:off x="8011137" y="1887768"/>
            <a:ext cx="4148668" cy="30824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A28905E-4946-4D94-85EF-1F6AF8B28272}"/>
              </a:ext>
            </a:extLst>
          </p:cNvPr>
          <p:cNvSpPr txBox="1"/>
          <p:nvPr/>
        </p:nvSpPr>
        <p:spPr>
          <a:xfrm>
            <a:off x="157563" y="2802923"/>
            <a:ext cx="17898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No initial voltage on cap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10AAA3-4A43-4D85-81CE-488899EBCC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563" y="3429000"/>
            <a:ext cx="3489257" cy="22435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1178F95-5BC8-448A-872C-4C90D66D84F5}"/>
              </a:ext>
            </a:extLst>
          </p:cNvPr>
          <p:cNvSpPr txBox="1"/>
          <p:nvPr/>
        </p:nvSpPr>
        <p:spPr>
          <a:xfrm>
            <a:off x="157563" y="5883171"/>
            <a:ext cx="2895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1V initial voltage on cap</a:t>
            </a:r>
          </a:p>
        </p:txBody>
      </p:sp>
    </p:spTree>
    <p:extLst>
      <p:ext uri="{BB962C8B-B14F-4D97-AF65-F5344CB8AC3E}">
        <p14:creationId xmlns:p14="http://schemas.microsoft.com/office/powerpoint/2010/main" val="3019266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1036</TotalTime>
  <Words>322</Words>
  <Application>Microsoft Office PowerPoint</Application>
  <PresentationFormat>Widescreen</PresentationFormat>
  <Paragraphs>34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Day 2 4 June, 2024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Srivastava, Jaya</dc:creator>
  <cp:lastModifiedBy>Srivastava, Jaya</cp:lastModifiedBy>
  <cp:revision>45</cp:revision>
  <dcterms:created xsi:type="dcterms:W3CDTF">2024-05-27T03:37:31Z</dcterms:created>
  <dcterms:modified xsi:type="dcterms:W3CDTF">2024-06-04T08:03:51Z</dcterms:modified>
</cp:coreProperties>
</file>